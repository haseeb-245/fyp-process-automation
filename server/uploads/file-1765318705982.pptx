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48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0AB81-C2B5-425A-842E-D127EF5CA634}" type="doc">
      <dgm:prSet loTypeId="urn:microsoft.com/office/officeart/2005/8/layout/arrow5" loCatId="relationship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DF11749-78E8-450F-A411-A61D49125B59}">
      <dgm:prSet/>
      <dgm:spPr/>
      <dgm:t>
        <a:bodyPr/>
        <a:lstStyle/>
        <a:p>
          <a:r>
            <a:rPr lang="en-US" b="1"/>
            <a:t>Community patrols:</a:t>
          </a:r>
          <a:r>
            <a:rPr lang="en-US"/>
            <a:t> villagers formed night-guards to stop illegal loggers.</a:t>
          </a:r>
        </a:p>
      </dgm:t>
    </dgm:pt>
    <dgm:pt modelId="{31D68BB0-42AA-4041-AE26-94E2FF44515E}" type="parTrans" cxnId="{29FF88A0-9900-44E3-B3E2-98D36D9E79E1}">
      <dgm:prSet/>
      <dgm:spPr/>
      <dgm:t>
        <a:bodyPr/>
        <a:lstStyle/>
        <a:p>
          <a:endParaRPr lang="en-US"/>
        </a:p>
      </dgm:t>
    </dgm:pt>
    <dgm:pt modelId="{26440CB6-7844-4F3C-83F5-D8B24F9C0E37}" type="sibTrans" cxnId="{29FF88A0-9900-44E3-B3E2-98D36D9E79E1}">
      <dgm:prSet/>
      <dgm:spPr/>
      <dgm:t>
        <a:bodyPr/>
        <a:lstStyle/>
        <a:p>
          <a:endParaRPr lang="en-US"/>
        </a:p>
      </dgm:t>
    </dgm:pt>
    <dgm:pt modelId="{B217DC7D-8B07-43EB-8831-AC6024A62249}">
      <dgm:prSet/>
      <dgm:spPr/>
      <dgm:t>
        <a:bodyPr/>
        <a:lstStyle/>
        <a:p>
          <a:r>
            <a:rPr lang="en-US" b="1"/>
            <a:t>Reporting networks:</a:t>
          </a:r>
          <a:r>
            <a:rPr lang="en-US"/>
            <a:t> locals used mobile phones to report trucks carrying illegal timber.</a:t>
          </a:r>
        </a:p>
      </dgm:t>
    </dgm:pt>
    <dgm:pt modelId="{A1D7AF4E-7FF3-4C3B-A1DF-13159E97556E}" type="parTrans" cxnId="{741DE285-09D3-4F3D-BE30-520F433228E5}">
      <dgm:prSet/>
      <dgm:spPr/>
      <dgm:t>
        <a:bodyPr/>
        <a:lstStyle/>
        <a:p>
          <a:endParaRPr lang="en-US"/>
        </a:p>
      </dgm:t>
    </dgm:pt>
    <dgm:pt modelId="{92C4F3C4-7AE2-4189-AD55-73801604C4F1}" type="sibTrans" cxnId="{741DE285-09D3-4F3D-BE30-520F433228E5}">
      <dgm:prSet/>
      <dgm:spPr/>
      <dgm:t>
        <a:bodyPr/>
        <a:lstStyle/>
        <a:p>
          <a:endParaRPr lang="en-US"/>
        </a:p>
      </dgm:t>
    </dgm:pt>
    <dgm:pt modelId="{1EFD0A00-3922-492D-8CBC-4D6348ADD1E1}">
      <dgm:prSet/>
      <dgm:spPr/>
      <dgm:t>
        <a:bodyPr/>
        <a:lstStyle/>
        <a:p>
          <a:r>
            <a:rPr lang="en-US" b="1"/>
            <a:t>Public protests &amp; awareness drives</a:t>
          </a:r>
          <a:r>
            <a:rPr lang="en-US"/>
            <a:t> demanding action from the government.</a:t>
          </a:r>
        </a:p>
      </dgm:t>
    </dgm:pt>
    <dgm:pt modelId="{0C4276F5-A38B-4AFA-BCE1-DF65861D9AC5}" type="parTrans" cxnId="{351F911D-28E9-4135-996B-186CBD8C7742}">
      <dgm:prSet/>
      <dgm:spPr/>
      <dgm:t>
        <a:bodyPr/>
        <a:lstStyle/>
        <a:p>
          <a:endParaRPr lang="en-US"/>
        </a:p>
      </dgm:t>
    </dgm:pt>
    <dgm:pt modelId="{50B14112-B97E-49FB-941D-7497F85AE523}" type="sibTrans" cxnId="{351F911D-28E9-4135-996B-186CBD8C7742}">
      <dgm:prSet/>
      <dgm:spPr/>
      <dgm:t>
        <a:bodyPr/>
        <a:lstStyle/>
        <a:p>
          <a:endParaRPr lang="en-US"/>
        </a:p>
      </dgm:t>
    </dgm:pt>
    <dgm:pt modelId="{D5F831EF-BF40-4A2D-AE88-F5CCB5909C3A}">
      <dgm:prSet/>
      <dgm:spPr/>
      <dgm:t>
        <a:bodyPr/>
        <a:lstStyle/>
        <a:p>
          <a:r>
            <a:rPr lang="en-US"/>
            <a:t>Support from NGOs and forest officers to track and catch smugglers.</a:t>
          </a:r>
        </a:p>
      </dgm:t>
    </dgm:pt>
    <dgm:pt modelId="{21C817E6-E838-4D3A-99BA-CFC5320C3044}" type="parTrans" cxnId="{AD88F7F0-BE62-46EB-9CC8-B03CF8A2983F}">
      <dgm:prSet/>
      <dgm:spPr/>
      <dgm:t>
        <a:bodyPr/>
        <a:lstStyle/>
        <a:p>
          <a:endParaRPr lang="en-US"/>
        </a:p>
      </dgm:t>
    </dgm:pt>
    <dgm:pt modelId="{FC9288E6-CE4A-43DC-AC21-ED7F6F6C16E8}" type="sibTrans" cxnId="{AD88F7F0-BE62-46EB-9CC8-B03CF8A2983F}">
      <dgm:prSet/>
      <dgm:spPr/>
      <dgm:t>
        <a:bodyPr/>
        <a:lstStyle/>
        <a:p>
          <a:endParaRPr lang="en-US"/>
        </a:p>
      </dgm:t>
    </dgm:pt>
    <dgm:pt modelId="{3BD09CB2-7FBA-4B0D-A981-F2AD6F5F348B}">
      <dgm:prSet/>
      <dgm:spPr/>
      <dgm:t>
        <a:bodyPr/>
        <a:lstStyle/>
        <a:p>
          <a:r>
            <a:rPr lang="en-US"/>
            <a:t>Pressure on authorities to enforce forest laws and punish timber mafia groups.</a:t>
          </a:r>
        </a:p>
      </dgm:t>
    </dgm:pt>
    <dgm:pt modelId="{0F6F4E5D-7500-4D81-AFE2-A7AF8DACDFD7}" type="parTrans" cxnId="{5CF3DE74-3003-41B8-88B5-193DFDCFEE4D}">
      <dgm:prSet/>
      <dgm:spPr/>
      <dgm:t>
        <a:bodyPr/>
        <a:lstStyle/>
        <a:p>
          <a:endParaRPr lang="en-US"/>
        </a:p>
      </dgm:t>
    </dgm:pt>
    <dgm:pt modelId="{65B74A39-C758-46F6-9CBF-8EFD2B981A25}" type="sibTrans" cxnId="{5CF3DE74-3003-41B8-88B5-193DFDCFEE4D}">
      <dgm:prSet/>
      <dgm:spPr/>
      <dgm:t>
        <a:bodyPr/>
        <a:lstStyle/>
        <a:p>
          <a:endParaRPr lang="en-US"/>
        </a:p>
      </dgm:t>
    </dgm:pt>
    <dgm:pt modelId="{B5C5F3DB-ED80-42E5-8100-D007E61D40A8}" type="pres">
      <dgm:prSet presAssocID="{A610AB81-C2B5-425A-842E-D127EF5CA634}" presName="diagram" presStyleCnt="0">
        <dgm:presLayoutVars>
          <dgm:dir/>
          <dgm:resizeHandles val="exact"/>
        </dgm:presLayoutVars>
      </dgm:prSet>
      <dgm:spPr/>
    </dgm:pt>
    <dgm:pt modelId="{4D1D4BEA-A36D-4729-90B3-F1F9E8936DCD}" type="pres">
      <dgm:prSet presAssocID="{BDF11749-78E8-450F-A411-A61D49125B59}" presName="arrow" presStyleLbl="node1" presStyleIdx="0" presStyleCnt="5">
        <dgm:presLayoutVars>
          <dgm:bulletEnabled val="1"/>
        </dgm:presLayoutVars>
      </dgm:prSet>
      <dgm:spPr/>
    </dgm:pt>
    <dgm:pt modelId="{CB275D1D-3D9A-43D4-86C4-854F31753C9E}" type="pres">
      <dgm:prSet presAssocID="{B217DC7D-8B07-43EB-8831-AC6024A62249}" presName="arrow" presStyleLbl="node1" presStyleIdx="1" presStyleCnt="5">
        <dgm:presLayoutVars>
          <dgm:bulletEnabled val="1"/>
        </dgm:presLayoutVars>
      </dgm:prSet>
      <dgm:spPr/>
    </dgm:pt>
    <dgm:pt modelId="{7ED65219-45EA-4B44-9868-E6E3B5BE863E}" type="pres">
      <dgm:prSet presAssocID="{1EFD0A00-3922-492D-8CBC-4D6348ADD1E1}" presName="arrow" presStyleLbl="node1" presStyleIdx="2" presStyleCnt="5">
        <dgm:presLayoutVars>
          <dgm:bulletEnabled val="1"/>
        </dgm:presLayoutVars>
      </dgm:prSet>
      <dgm:spPr/>
    </dgm:pt>
    <dgm:pt modelId="{24427D08-213D-4933-9538-9510C79D46A6}" type="pres">
      <dgm:prSet presAssocID="{D5F831EF-BF40-4A2D-AE88-F5CCB5909C3A}" presName="arrow" presStyleLbl="node1" presStyleIdx="3" presStyleCnt="5">
        <dgm:presLayoutVars>
          <dgm:bulletEnabled val="1"/>
        </dgm:presLayoutVars>
      </dgm:prSet>
      <dgm:spPr/>
    </dgm:pt>
    <dgm:pt modelId="{32312DA5-6874-4D0B-9A99-0EB714C48FAA}" type="pres">
      <dgm:prSet presAssocID="{3BD09CB2-7FBA-4B0D-A981-F2AD6F5F348B}" presName="arrow" presStyleLbl="node1" presStyleIdx="4" presStyleCnt="5">
        <dgm:presLayoutVars>
          <dgm:bulletEnabled val="1"/>
        </dgm:presLayoutVars>
      </dgm:prSet>
      <dgm:spPr/>
    </dgm:pt>
  </dgm:ptLst>
  <dgm:cxnLst>
    <dgm:cxn modelId="{67440708-472B-453C-ADA5-016A505B9E30}" type="presOf" srcId="{D5F831EF-BF40-4A2D-AE88-F5CCB5909C3A}" destId="{24427D08-213D-4933-9538-9510C79D46A6}" srcOrd="0" destOrd="0" presId="urn:microsoft.com/office/officeart/2005/8/layout/arrow5"/>
    <dgm:cxn modelId="{351F911D-28E9-4135-996B-186CBD8C7742}" srcId="{A610AB81-C2B5-425A-842E-D127EF5CA634}" destId="{1EFD0A00-3922-492D-8CBC-4D6348ADD1E1}" srcOrd="2" destOrd="0" parTransId="{0C4276F5-A38B-4AFA-BCE1-DF65861D9AC5}" sibTransId="{50B14112-B97E-49FB-941D-7497F85AE523}"/>
    <dgm:cxn modelId="{B85F844E-1B05-401F-AADC-70B4BD727892}" type="presOf" srcId="{A610AB81-C2B5-425A-842E-D127EF5CA634}" destId="{B5C5F3DB-ED80-42E5-8100-D007E61D40A8}" srcOrd="0" destOrd="0" presId="urn:microsoft.com/office/officeart/2005/8/layout/arrow5"/>
    <dgm:cxn modelId="{5CF3DE74-3003-41B8-88B5-193DFDCFEE4D}" srcId="{A610AB81-C2B5-425A-842E-D127EF5CA634}" destId="{3BD09CB2-7FBA-4B0D-A981-F2AD6F5F348B}" srcOrd="4" destOrd="0" parTransId="{0F6F4E5D-7500-4D81-AFE2-A7AF8DACDFD7}" sibTransId="{65B74A39-C758-46F6-9CBF-8EFD2B981A25}"/>
    <dgm:cxn modelId="{5D51327C-109F-4D6E-94A1-CC4090256E22}" type="presOf" srcId="{B217DC7D-8B07-43EB-8831-AC6024A62249}" destId="{CB275D1D-3D9A-43D4-86C4-854F31753C9E}" srcOrd="0" destOrd="0" presId="urn:microsoft.com/office/officeart/2005/8/layout/arrow5"/>
    <dgm:cxn modelId="{741DE285-09D3-4F3D-BE30-520F433228E5}" srcId="{A610AB81-C2B5-425A-842E-D127EF5CA634}" destId="{B217DC7D-8B07-43EB-8831-AC6024A62249}" srcOrd="1" destOrd="0" parTransId="{A1D7AF4E-7FF3-4C3B-A1DF-13159E97556E}" sibTransId="{92C4F3C4-7AE2-4189-AD55-73801604C4F1}"/>
    <dgm:cxn modelId="{CBC9B492-1E18-451C-B5B4-8FD3F023C4AD}" type="presOf" srcId="{1EFD0A00-3922-492D-8CBC-4D6348ADD1E1}" destId="{7ED65219-45EA-4B44-9868-E6E3B5BE863E}" srcOrd="0" destOrd="0" presId="urn:microsoft.com/office/officeart/2005/8/layout/arrow5"/>
    <dgm:cxn modelId="{29FF88A0-9900-44E3-B3E2-98D36D9E79E1}" srcId="{A610AB81-C2B5-425A-842E-D127EF5CA634}" destId="{BDF11749-78E8-450F-A411-A61D49125B59}" srcOrd="0" destOrd="0" parTransId="{31D68BB0-42AA-4041-AE26-94E2FF44515E}" sibTransId="{26440CB6-7844-4F3C-83F5-D8B24F9C0E37}"/>
    <dgm:cxn modelId="{2DBABCCC-DA11-4C8E-AEE2-0E1C5C966897}" type="presOf" srcId="{3BD09CB2-7FBA-4B0D-A981-F2AD6F5F348B}" destId="{32312DA5-6874-4D0B-9A99-0EB714C48FAA}" srcOrd="0" destOrd="0" presId="urn:microsoft.com/office/officeart/2005/8/layout/arrow5"/>
    <dgm:cxn modelId="{CE8877D4-D895-4998-8F1A-5B0BE10E26F3}" type="presOf" srcId="{BDF11749-78E8-450F-A411-A61D49125B59}" destId="{4D1D4BEA-A36D-4729-90B3-F1F9E8936DCD}" srcOrd="0" destOrd="0" presId="urn:microsoft.com/office/officeart/2005/8/layout/arrow5"/>
    <dgm:cxn modelId="{AD88F7F0-BE62-46EB-9CC8-B03CF8A2983F}" srcId="{A610AB81-C2B5-425A-842E-D127EF5CA634}" destId="{D5F831EF-BF40-4A2D-AE88-F5CCB5909C3A}" srcOrd="3" destOrd="0" parTransId="{21C817E6-E838-4D3A-99BA-CFC5320C3044}" sibTransId="{FC9288E6-CE4A-43DC-AC21-ED7F6F6C16E8}"/>
    <dgm:cxn modelId="{DD902D2D-9A97-4C5C-A591-F518F294FCBC}" type="presParOf" srcId="{B5C5F3DB-ED80-42E5-8100-D007E61D40A8}" destId="{4D1D4BEA-A36D-4729-90B3-F1F9E8936DCD}" srcOrd="0" destOrd="0" presId="urn:microsoft.com/office/officeart/2005/8/layout/arrow5"/>
    <dgm:cxn modelId="{B7E29B7D-819F-48FE-BBBF-2418BC9A58F9}" type="presParOf" srcId="{B5C5F3DB-ED80-42E5-8100-D007E61D40A8}" destId="{CB275D1D-3D9A-43D4-86C4-854F31753C9E}" srcOrd="1" destOrd="0" presId="urn:microsoft.com/office/officeart/2005/8/layout/arrow5"/>
    <dgm:cxn modelId="{CD5345B8-3DB3-44DE-BF87-649A257286AD}" type="presParOf" srcId="{B5C5F3DB-ED80-42E5-8100-D007E61D40A8}" destId="{7ED65219-45EA-4B44-9868-E6E3B5BE863E}" srcOrd="2" destOrd="0" presId="urn:microsoft.com/office/officeart/2005/8/layout/arrow5"/>
    <dgm:cxn modelId="{6CA81195-10DF-4248-90A7-9C6B9B557F9D}" type="presParOf" srcId="{B5C5F3DB-ED80-42E5-8100-D007E61D40A8}" destId="{24427D08-213D-4933-9538-9510C79D46A6}" srcOrd="3" destOrd="0" presId="urn:microsoft.com/office/officeart/2005/8/layout/arrow5"/>
    <dgm:cxn modelId="{87D2CF4B-E14A-4A39-878E-8EE649140E95}" type="presParOf" srcId="{B5C5F3DB-ED80-42E5-8100-D007E61D40A8}" destId="{32312DA5-6874-4D0B-9A99-0EB714C48FAA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D4BEA-A36D-4729-90B3-F1F9E8936DCD}">
      <dsp:nvSpPr>
        <dsp:cNvPr id="0" name=""/>
        <dsp:cNvSpPr/>
      </dsp:nvSpPr>
      <dsp:spPr>
        <a:xfrm>
          <a:off x="1617045" y="286483"/>
          <a:ext cx="1924333" cy="192433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Community patrols:</a:t>
          </a:r>
          <a:r>
            <a:rPr lang="en-US" sz="1100" kern="1200"/>
            <a:t> villagers formed night-guards to stop illegal loggers.</a:t>
          </a:r>
        </a:p>
      </dsp:txBody>
      <dsp:txXfrm>
        <a:off x="2098128" y="286483"/>
        <a:ext cx="962167" cy="1587575"/>
      </dsp:txXfrm>
    </dsp:sp>
    <dsp:sp modelId="{CB275D1D-3D9A-43D4-86C4-854F31753C9E}">
      <dsp:nvSpPr>
        <dsp:cNvPr id="0" name=""/>
        <dsp:cNvSpPr/>
      </dsp:nvSpPr>
      <dsp:spPr>
        <a:xfrm rot="4320000">
          <a:off x="3233456" y="1460875"/>
          <a:ext cx="1924333" cy="192433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Reporting networks:</a:t>
          </a:r>
          <a:r>
            <a:rPr lang="en-US" sz="1100" kern="1200"/>
            <a:t> locals used mobile phones to report trucks carrying illegal timber.</a:t>
          </a:r>
        </a:p>
      </dsp:txBody>
      <dsp:txXfrm rot="-5400000">
        <a:off x="3561973" y="1889926"/>
        <a:ext cx="1587575" cy="962167"/>
      </dsp:txXfrm>
    </dsp:sp>
    <dsp:sp modelId="{7ED65219-45EA-4B44-9868-E6E3B5BE863E}">
      <dsp:nvSpPr>
        <dsp:cNvPr id="0" name=""/>
        <dsp:cNvSpPr/>
      </dsp:nvSpPr>
      <dsp:spPr>
        <a:xfrm rot="8640000">
          <a:off x="2616042" y="3361081"/>
          <a:ext cx="1924333" cy="192433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Public protests &amp; awareness drives</a:t>
          </a:r>
          <a:r>
            <a:rPr lang="en-US" sz="1100" kern="1200"/>
            <a:t> demanding action from the government.</a:t>
          </a:r>
        </a:p>
      </dsp:txBody>
      <dsp:txXfrm rot="10800000">
        <a:off x="3196096" y="3665681"/>
        <a:ext cx="962167" cy="1587575"/>
      </dsp:txXfrm>
    </dsp:sp>
    <dsp:sp modelId="{24427D08-213D-4933-9538-9510C79D46A6}">
      <dsp:nvSpPr>
        <dsp:cNvPr id="0" name=""/>
        <dsp:cNvSpPr/>
      </dsp:nvSpPr>
      <dsp:spPr>
        <a:xfrm rot="12960000">
          <a:off x="618047" y="3361081"/>
          <a:ext cx="1924333" cy="192433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 from NGOs and forest officers to track and catch smugglers.</a:t>
          </a:r>
        </a:p>
      </dsp:txBody>
      <dsp:txXfrm rot="10800000">
        <a:off x="1000159" y="3665681"/>
        <a:ext cx="962167" cy="1587575"/>
      </dsp:txXfrm>
    </dsp:sp>
    <dsp:sp modelId="{32312DA5-6874-4D0B-9A99-0EB714C48FAA}">
      <dsp:nvSpPr>
        <dsp:cNvPr id="0" name=""/>
        <dsp:cNvSpPr/>
      </dsp:nvSpPr>
      <dsp:spPr>
        <a:xfrm rot="17280000">
          <a:off x="633" y="1460875"/>
          <a:ext cx="1924333" cy="1924333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Pressure on authorities to enforce forest laws and punish timber mafia groups.</a:t>
          </a:r>
        </a:p>
      </dsp:txBody>
      <dsp:txXfrm rot="5400000">
        <a:off x="8874" y="1889926"/>
        <a:ext cx="1587575" cy="962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D76F-CF2E-E800-3DF7-5DEB37A60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7FCCD-17EE-9537-F761-468C0EA1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FF58-0E3F-0193-C6EF-9061DED5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63CE-6749-466B-BD5E-AB482177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DCD2E-3CC4-AAEA-26B3-E3DA9B1E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7851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589F-903D-02F5-5DE3-3E89BA1C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FFC2-D20F-00E1-6709-E5318C13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6C01-F2D1-FCB8-DF5B-529BEDD5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5B92C-7A83-BD77-1C58-C67B7810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1B4C0-4A8D-3EDD-B36E-C73AD8B3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694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6B5D-AC0B-7A56-EE5D-88C6625A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A24B-9C27-8A8F-771A-30B30A029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4F3F4-D0DF-9932-EFBD-DFF5BA84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7052-A1AA-E428-517F-AA7BB40E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2556-01EC-3DDC-AC97-E62E54A8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97555-0A2A-412F-F4FC-B599F595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2E56-63F9-8B66-A338-318712164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39C0F-BA81-0C26-0F85-71FD0CB8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84717-E5D0-E2CD-03B3-CFB92E9E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371D3-7C6B-4E3B-EB77-633034D9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D2FD8-E182-59C9-281F-E4F78161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19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636A-6D76-B32A-5D8D-B475183A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5782B-762A-F6ED-9FE0-C971065F3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C0120-6249-B3B8-A48D-C8C1D3E66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BE482-9584-DAB0-E81F-D9B4F3ACB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1A9AE-E517-D113-4EED-D5848C55E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8AA8C-D025-F016-62F8-A99F1DF8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9476A-EAC9-3D6A-8B7A-75DBFE18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DF9A1-F2D5-0EA0-113D-E1AA2905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937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DED2E-BD55-01FE-73EB-72EE5F65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AC57A-5727-6665-4B02-B00F46D1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9F9D0-33E3-D37E-4402-C7239AC1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9E98E-D0DF-EA7A-380D-5C6B25C5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1903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BF36C-3EA6-E5D7-0323-9FA4748F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11E37-B215-12CC-BB0E-AC748C85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738F2-CEB4-8DE8-80ED-6BDA0568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429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CA18-8D24-E89A-EC01-6B6EA377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873A-8D48-7883-08E2-83F577E89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E7987-9F51-AF35-CF85-99AD6CFB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BC664-7672-CF31-32B1-06F32F59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28B17-2523-9204-7B9A-A301D766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6852F-432E-AB5A-9615-C5E79E04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662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25A1-6253-E9D3-3243-B5C0D31E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BCA6E-F674-CAB6-BA4B-FCD70E829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83F4B-AFC6-8232-9E2B-1C313B6EF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FD0D8-21CC-FF54-B7D9-94727145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47830-494D-E01B-3275-665294DA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1CCBD-E84D-218E-B751-0FF861F0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741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7B44-4171-D108-8D36-9E4274DF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5F63C-58BD-FB4F-A26F-29757974D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174A7-D404-735E-3699-C3C3F9AE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FA4F1-8D40-FB38-900A-0AE4C82D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6B39A-F6F5-4CA5-9911-39C77FFB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429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B5D7B-2880-6B1B-DF50-9043AF18B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C05DB-F276-C694-BDCE-280AB41CE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4CFA9-0E88-C01E-4172-EAF30767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04A66-A0FF-A9D0-20E0-065C765A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C86E3-4EBA-53D1-A1C4-45DEAC0D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954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D641F-E5C5-A1DC-7CDE-A05A05B8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3A076-C49B-DB03-5735-960E5C2EB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0CF3-8E8A-ACB7-5665-4EDDB0AA2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D6AA9-09A8-4EAB-9D26-3966486BA930}" type="datetimeFigureOut">
              <a:rPr lang="en-PK" smtClean="0"/>
              <a:t>08/12/2025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955B7-70B1-9D86-6F56-B40D7F12A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E4A4-401A-9DE3-AD95-82A9020F4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7B895-1379-436D-A3F0-8817266F8B5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531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oking down on a path in a forest in winter">
            <a:extLst>
              <a:ext uri="{FF2B5EF4-FFF2-40B4-BE49-F238E27FC236}">
                <a16:creationId xmlns:a16="http://schemas.microsoft.com/office/drawing/2014/main" id="{A893E1D0-F635-AE3B-1A1A-26512ACA51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39" r="-1" b="2853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A1E1C9-C890-C209-4FB6-E7420AD0B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Save Khyber Pakhtunkhwa’s Forests (2014–2018)</a:t>
            </a:r>
            <a:endParaRPr lang="en-PK" sz="6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540E8-7A91-D1F6-4B96-94F707B6D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Anti-Timber Mafia &amp; Community Forest Protection</a:t>
            </a:r>
          </a:p>
          <a:p>
            <a:r>
              <a:rPr lang="en-US">
                <a:solidFill>
                  <a:schemeClr val="bg1"/>
                </a:solidFill>
              </a:rPr>
              <a:t>PRESENTED BY: HASEEB IRFAN -029</a:t>
            </a:r>
            <a:endParaRPr lang="en-PK">
              <a:solidFill>
                <a:schemeClr val="bg1"/>
              </a:solidFill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rees in a misty forest">
            <a:extLst>
              <a:ext uri="{FF2B5EF4-FFF2-40B4-BE49-F238E27FC236}">
                <a16:creationId xmlns:a16="http://schemas.microsoft.com/office/drawing/2014/main" id="{D2299232-2297-149A-3C5C-D9F35BD3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386" b="7386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72CCD-10DD-F413-8675-6A7E395E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Background &amp; Human Story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451B-D36B-77FA-1EAA-F1302488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KP’s forests were being rapidly destroyed by the </a:t>
            </a:r>
            <a:r>
              <a:rPr lang="en-US" sz="2000" b="1">
                <a:solidFill>
                  <a:srgbClr val="FFFFFF"/>
                </a:solidFill>
              </a:rPr>
              <a:t>timber mafia</a:t>
            </a:r>
            <a:r>
              <a:rPr lang="en-US" sz="2000">
                <a:solidFill>
                  <a:srgbClr val="FFFFFF"/>
                </a:solidFill>
              </a:rPr>
              <a:t>, illegal cutting, and smuggling.</a:t>
            </a:r>
          </a:p>
          <a:p>
            <a:r>
              <a:rPr lang="en-US" sz="2000">
                <a:solidFill>
                  <a:srgbClr val="FFFFFF"/>
                </a:solidFill>
              </a:rPr>
              <a:t>Local communities suffered landslides, water shortages, and loss of livelihood.</a:t>
            </a:r>
          </a:p>
          <a:p>
            <a:r>
              <a:rPr lang="en-US" sz="2000">
                <a:solidFill>
                  <a:srgbClr val="FFFFFF"/>
                </a:solidFill>
              </a:rPr>
              <a:t>Villagers, activists, and youth groups started organizing to </a:t>
            </a:r>
            <a:r>
              <a:rPr lang="en-US" sz="2000" b="1">
                <a:solidFill>
                  <a:srgbClr val="FFFFFF"/>
                </a:solidFill>
              </a:rPr>
              <a:t>protect their own forests</a:t>
            </a:r>
            <a:r>
              <a:rPr lang="en-US" sz="2000">
                <a:solidFill>
                  <a:srgbClr val="FFFFFF"/>
                </a:solidFill>
              </a:rPr>
              <a:t>.</a:t>
            </a:r>
          </a:p>
          <a:p>
            <a:r>
              <a:rPr lang="en-US" sz="2000">
                <a:solidFill>
                  <a:srgbClr val="FFFFFF"/>
                </a:solidFill>
              </a:rPr>
              <a:t>The movement was driven by ordinary people who wanted a safer, greener future.</a:t>
            </a:r>
          </a:p>
          <a:p>
            <a:endParaRPr lang="en-PK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640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iles of logs">
            <a:extLst>
              <a:ext uri="{FF2B5EF4-FFF2-40B4-BE49-F238E27FC236}">
                <a16:creationId xmlns:a16="http://schemas.microsoft.com/office/drawing/2014/main" id="{95068CDE-4D88-1F67-2CE8-5E9DF3C469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628690-FD67-3552-DA1F-0AE45457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Actions &amp; Strategies</a:t>
            </a:r>
            <a:endParaRPr lang="en-PK">
              <a:solidFill>
                <a:srgbClr val="FFFFFF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3076494-9ECE-8061-34E8-D9535F54D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204440"/>
              </p:ext>
            </p:extLst>
          </p:nvPr>
        </p:nvGraphicFramePr>
        <p:xfrm>
          <a:off x="6195375" y="557189"/>
          <a:ext cx="5158424" cy="5571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9279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een trees in the forest">
            <a:extLst>
              <a:ext uri="{FF2B5EF4-FFF2-40B4-BE49-F238E27FC236}">
                <a16:creationId xmlns:a16="http://schemas.microsoft.com/office/drawing/2014/main" id="{19F2E7BF-7684-3E58-51F5-11542F7E44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00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EF965-0556-87A1-2C3D-2B0917A8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Outcomes &amp; Impact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71F46-C2FA-7DA8-45AD-4B4A0840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Hundreds of illegal timber operations exposed and shut down.</a:t>
            </a:r>
          </a:p>
          <a:p>
            <a:r>
              <a:rPr lang="en-US" sz="2000">
                <a:solidFill>
                  <a:srgbClr val="FFFFFF"/>
                </a:solidFill>
              </a:rPr>
              <a:t>Stronger action from KP Forest Department; more arrests of timber smugglers.</a:t>
            </a:r>
          </a:p>
          <a:p>
            <a:r>
              <a:rPr lang="en-US" sz="2000">
                <a:solidFill>
                  <a:srgbClr val="FFFFFF"/>
                </a:solidFill>
              </a:rPr>
              <a:t>Increased awareness among local communities about forest protection.</a:t>
            </a:r>
          </a:p>
          <a:p>
            <a:r>
              <a:rPr lang="en-US" sz="2000">
                <a:solidFill>
                  <a:srgbClr val="FFFFFF"/>
                </a:solidFill>
              </a:rPr>
              <a:t>Protected large forest areas in Swat, Dir, Chitral, and Hazara belt.</a:t>
            </a:r>
          </a:p>
          <a:p>
            <a:r>
              <a:rPr lang="en-US" sz="2000">
                <a:solidFill>
                  <a:srgbClr val="FFFFFF"/>
                </a:solidFill>
              </a:rPr>
              <a:t>Inspired later green campaigns like </a:t>
            </a:r>
            <a:r>
              <a:rPr lang="en-US" sz="2000" b="1">
                <a:solidFill>
                  <a:srgbClr val="FFFFFF"/>
                </a:solidFill>
              </a:rPr>
              <a:t>Billion Tree Tsunami</a:t>
            </a:r>
            <a:r>
              <a:rPr lang="en-US" sz="2000">
                <a:solidFill>
                  <a:srgbClr val="FFFFFF"/>
                </a:solidFill>
              </a:rPr>
              <a:t>.</a:t>
            </a:r>
          </a:p>
          <a:p>
            <a:endParaRPr lang="en-PK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202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Save Khyber Pakhtunkhwa’s Forests (2014–2018)</vt:lpstr>
      <vt:lpstr>Background &amp; Human Story</vt:lpstr>
      <vt:lpstr>Actions &amp; Strategies</vt:lpstr>
      <vt:lpstr>Outcomes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01-131232-023</dc:creator>
  <cp:lastModifiedBy>01-131232-023</cp:lastModifiedBy>
  <cp:revision>1</cp:revision>
  <dcterms:created xsi:type="dcterms:W3CDTF">2025-12-08T18:24:30Z</dcterms:created>
  <dcterms:modified xsi:type="dcterms:W3CDTF">2025-12-08T18:33:28Z</dcterms:modified>
</cp:coreProperties>
</file>